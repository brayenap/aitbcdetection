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Garet" charset="1" panose="00000000000000000000"/>
      <p:regular r:id="rId28"/>
    </p:embeddedFont>
    <p:embeddedFont>
      <p:font typeface="Archivo Black" charset="1" panose="020B0A03020202020B04"/>
      <p:regular r:id="rId29"/>
    </p:embeddedFont>
    <p:embeddedFont>
      <p:font typeface="Garet Bold" charset="1" panose="00000000000000000000"/>
      <p:regular r:id="rId30"/>
    </p:embeddedFont>
    <p:embeddedFont>
      <p:font typeface="Canva Sans" charset="1" panose="020B05030305010401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6.png" Type="http://schemas.openxmlformats.org/officeDocument/2006/relationships/image"/><Relationship Id="rId4" Target="../media/image2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jpeg" Type="http://schemas.openxmlformats.org/officeDocument/2006/relationships/image"/><Relationship Id="rId4" Target="../media/image30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1.jpeg" Type="http://schemas.openxmlformats.org/officeDocument/2006/relationships/image"/><Relationship Id="rId4" Target="../media/image3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jpeg" Type="http://schemas.openxmlformats.org/officeDocument/2006/relationships/image"/><Relationship Id="rId4" Target="../media/image3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5.jpeg" Type="http://schemas.openxmlformats.org/officeDocument/2006/relationships/image"/><Relationship Id="rId4" Target="../media/image36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7.jpeg" Type="http://schemas.openxmlformats.org/officeDocument/2006/relationships/image"/><Relationship Id="rId4" Target="../media/image38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9.jpeg" Type="http://schemas.openxmlformats.org/officeDocument/2006/relationships/image"/><Relationship Id="rId4" Target="../media/VAG9EUHnq2w.mp4" Type="http://schemas.openxmlformats.org/officeDocument/2006/relationships/video"/><Relationship Id="rId5" Target="../media/VAG9EUHnq2w.mp4" Type="http://schemas.microsoft.com/office/2007/relationships/media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79298" y="8311463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0536" y="6801942"/>
            <a:ext cx="5748677" cy="1718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1"/>
              </a:lnSpc>
            </a:pPr>
            <a:r>
              <a:rPr lang="en-US" sz="1785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2802430291 - ANDREAS MATTHEW DHARMAWAN</a:t>
            </a:r>
          </a:p>
          <a:p>
            <a:pPr algn="l">
              <a:lnSpc>
                <a:spcPts val="2321"/>
              </a:lnSpc>
            </a:pPr>
            <a:r>
              <a:rPr lang="en-US" sz="1785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⁠2802432145 - BRAYEN AGUSTINUS PUTRA</a:t>
            </a:r>
          </a:p>
          <a:p>
            <a:pPr algn="l">
              <a:lnSpc>
                <a:spcPts val="2321"/>
              </a:lnSpc>
            </a:pPr>
            <a:r>
              <a:rPr lang="en-US" sz="1785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2802430700 - BRYANT ARSEN RIONARDY</a:t>
            </a:r>
          </a:p>
          <a:p>
            <a:pPr algn="l">
              <a:lnSpc>
                <a:spcPts val="2321"/>
              </a:lnSpc>
            </a:pPr>
            <a:r>
              <a:rPr lang="en-US" sz="1785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2802489414 - FRANS SEBASTIAN WINATA</a:t>
            </a:r>
          </a:p>
          <a:p>
            <a:pPr algn="l">
              <a:lnSpc>
                <a:spcPts val="2321"/>
              </a:lnSpc>
            </a:pPr>
            <a:r>
              <a:rPr lang="en-US" sz="1785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2802430530 - WINSONT DESVIO WU</a:t>
            </a:r>
          </a:p>
          <a:p>
            <a:pPr algn="l" marL="0" indent="0" lvl="0">
              <a:lnSpc>
                <a:spcPts val="2321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456678"/>
            <a:ext cx="15190446" cy="3993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784"/>
              </a:lnSpc>
            </a:pPr>
            <a:r>
              <a:rPr lang="en-US" sz="8194" spc="-64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</a:t>
            </a:r>
            <a:r>
              <a:rPr lang="en-US" sz="8194" spc="-647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ETEKSI TUBERKULOSIS (TB) DARI CITRA RONTGEN DADA MENGGUNAKAN CONVNEXT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071929" y="9986962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292567" y="98726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974038" y="230283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252411" y="9112929"/>
            <a:ext cx="504821" cy="795564"/>
          </a:xfrm>
          <a:custGeom>
            <a:avLst/>
            <a:gdLst/>
            <a:ahLst/>
            <a:cxnLst/>
            <a:rect r="r" b="b" t="t" l="l"/>
            <a:pathLst>
              <a:path h="795564" w="504821">
                <a:moveTo>
                  <a:pt x="0" y="0"/>
                </a:moveTo>
                <a:lnTo>
                  <a:pt x="504822" y="0"/>
                </a:lnTo>
                <a:lnTo>
                  <a:pt x="504822" y="795564"/>
                </a:lnTo>
                <a:lnTo>
                  <a:pt x="0" y="7955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7752" y="3139908"/>
            <a:ext cx="3183532" cy="3177744"/>
          </a:xfrm>
          <a:custGeom>
            <a:avLst/>
            <a:gdLst/>
            <a:ahLst/>
            <a:cxnLst/>
            <a:rect r="r" b="b" t="t" l="l"/>
            <a:pathLst>
              <a:path h="3177744" w="3183532">
                <a:moveTo>
                  <a:pt x="0" y="0"/>
                </a:moveTo>
                <a:lnTo>
                  <a:pt x="3183532" y="0"/>
                </a:lnTo>
                <a:lnTo>
                  <a:pt x="3183532" y="3177743"/>
                </a:lnTo>
                <a:lnTo>
                  <a:pt x="0" y="317774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64853" y="3402854"/>
            <a:ext cx="3769019" cy="2537411"/>
          </a:xfrm>
          <a:custGeom>
            <a:avLst/>
            <a:gdLst/>
            <a:ahLst/>
            <a:cxnLst/>
            <a:rect r="r" b="b" t="t" l="l"/>
            <a:pathLst>
              <a:path h="2537411" w="3769019">
                <a:moveTo>
                  <a:pt x="0" y="0"/>
                </a:moveTo>
                <a:lnTo>
                  <a:pt x="3769020" y="0"/>
                </a:lnTo>
                <a:lnTo>
                  <a:pt x="3769020" y="2537410"/>
                </a:lnTo>
                <a:lnTo>
                  <a:pt x="0" y="253741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949363" y="4084594"/>
            <a:ext cx="1648558" cy="1971102"/>
          </a:xfrm>
          <a:custGeom>
            <a:avLst/>
            <a:gdLst/>
            <a:ahLst/>
            <a:cxnLst/>
            <a:rect r="r" b="b" t="t" l="l"/>
            <a:pathLst>
              <a:path h="1971102" w="1648558">
                <a:moveTo>
                  <a:pt x="0" y="0"/>
                </a:moveTo>
                <a:lnTo>
                  <a:pt x="1648558" y="0"/>
                </a:lnTo>
                <a:lnTo>
                  <a:pt x="1648558" y="1971102"/>
                </a:lnTo>
                <a:lnTo>
                  <a:pt x="0" y="1971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930732" y="3402854"/>
            <a:ext cx="2655359" cy="2655359"/>
          </a:xfrm>
          <a:custGeom>
            <a:avLst/>
            <a:gdLst/>
            <a:ahLst/>
            <a:cxnLst/>
            <a:rect r="r" b="b" t="t" l="l"/>
            <a:pathLst>
              <a:path h="2655359" w="2655359">
                <a:moveTo>
                  <a:pt x="0" y="0"/>
                </a:moveTo>
                <a:lnTo>
                  <a:pt x="2655359" y="0"/>
                </a:lnTo>
                <a:lnTo>
                  <a:pt x="2655359" y="2655359"/>
                </a:lnTo>
                <a:lnTo>
                  <a:pt x="0" y="265535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45553" y="683473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Latar Belakang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553" y="6996685"/>
            <a:ext cx="5147930" cy="1114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  <a:spcBef>
                <a:spcPct val="0"/>
              </a:spcBef>
            </a:pP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Menurut WHO (2024), terdapat </a:t>
            </a:r>
            <a:r>
              <a:rPr lang="en-US" b="true" sz="2910" spc="-2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10,6 juta 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kasus TB dan </a:t>
            </a:r>
            <a:r>
              <a:rPr lang="en-US" b="true" sz="2910" spc="-2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1,3 juta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kematian setiap tahun di dunia.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553" y="1697327"/>
            <a:ext cx="9637035" cy="29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Tub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erkulosis (TB) merupakan salah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masal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 kesehatan global terbesar.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03658" y="6821702"/>
            <a:ext cx="5430102" cy="146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  <a:spcBef>
                <a:spcPct val="0"/>
              </a:spcBef>
            </a:pP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Sekitar </a:t>
            </a:r>
            <a:r>
              <a:rPr lang="en-US" b="true" sz="2910" spc="-2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 juta kasus baru mu</a:t>
            </a:r>
            <a:r>
              <a:rPr lang="en-US" b="true" sz="2910" spc="-2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ncul setiap tahun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dengan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ratusan ribu 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kasus tidak 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erdeteksi atau tidak dilaporkan.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5553" y="2178324"/>
            <a:ext cx="9431819" cy="294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  <a:spcBef>
                <a:spcPct val="0"/>
              </a:spcBef>
            </a:pP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Ind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onesia menempati peringkat ke-2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j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uml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234" spc="-17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 kasus TB terbanyak di dunia.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43360" y="6821702"/>
            <a:ext cx="5430102" cy="146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0"/>
              </a:lnSpc>
              <a:spcBef>
                <a:spcPct val="0"/>
              </a:spcBef>
            </a:pP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Indonesi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m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kkan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-ra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penund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aan</a:t>
            </a:r>
            <a:r>
              <a:rPr lang="en-US" b="true" sz="2910" spc="-22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2–3 bulan</a:t>
            </a:r>
            <a:r>
              <a:rPr lang="en-US" sz="2910" spc="-22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sejak munculnya gejala hingga diagnosis.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1071929" y="9986962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292567" y="98726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974038" y="230283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-252411" y="9112929"/>
            <a:ext cx="504821" cy="795564"/>
          </a:xfrm>
          <a:custGeom>
            <a:avLst/>
            <a:gdLst/>
            <a:ahLst/>
            <a:cxnLst/>
            <a:rect r="r" b="b" t="t" l="l"/>
            <a:pathLst>
              <a:path h="795564" w="504821">
                <a:moveTo>
                  <a:pt x="0" y="0"/>
                </a:moveTo>
                <a:lnTo>
                  <a:pt x="504822" y="0"/>
                </a:lnTo>
                <a:lnTo>
                  <a:pt x="504822" y="795564"/>
                </a:lnTo>
                <a:lnTo>
                  <a:pt x="0" y="7955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084187" y="1575875"/>
            <a:ext cx="2436968" cy="1852096"/>
          </a:xfrm>
          <a:custGeom>
            <a:avLst/>
            <a:gdLst/>
            <a:ahLst/>
            <a:cxnLst/>
            <a:rect r="r" b="b" t="t" l="l"/>
            <a:pathLst>
              <a:path h="1852096" w="2436968">
                <a:moveTo>
                  <a:pt x="0" y="0"/>
                </a:moveTo>
                <a:lnTo>
                  <a:pt x="2436968" y="0"/>
                </a:lnTo>
                <a:lnTo>
                  <a:pt x="2436968" y="1852096"/>
                </a:lnTo>
                <a:lnTo>
                  <a:pt x="0" y="18520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25966" y="1323799"/>
            <a:ext cx="2672480" cy="2198114"/>
          </a:xfrm>
          <a:custGeom>
            <a:avLst/>
            <a:gdLst/>
            <a:ahLst/>
            <a:cxnLst/>
            <a:rect r="r" b="b" t="t" l="l"/>
            <a:pathLst>
              <a:path h="2198114" w="2672480">
                <a:moveTo>
                  <a:pt x="0" y="0"/>
                </a:moveTo>
                <a:lnTo>
                  <a:pt x="2672480" y="0"/>
                </a:lnTo>
                <a:lnTo>
                  <a:pt x="2672480" y="2198115"/>
                </a:lnTo>
                <a:lnTo>
                  <a:pt x="0" y="219811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603257" y="1229856"/>
            <a:ext cx="2054256" cy="2292057"/>
          </a:xfrm>
          <a:custGeom>
            <a:avLst/>
            <a:gdLst/>
            <a:ahLst/>
            <a:cxnLst/>
            <a:rect r="r" b="b" t="t" l="l"/>
            <a:pathLst>
              <a:path h="2292057" w="2054256">
                <a:moveTo>
                  <a:pt x="0" y="0"/>
                </a:moveTo>
                <a:lnTo>
                  <a:pt x="2054256" y="0"/>
                </a:lnTo>
                <a:lnTo>
                  <a:pt x="2054256" y="2292058"/>
                </a:lnTo>
                <a:lnTo>
                  <a:pt x="0" y="22920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209554">
            <a:off x="8217346" y="4242409"/>
            <a:ext cx="1339137" cy="440698"/>
          </a:xfrm>
          <a:custGeom>
            <a:avLst/>
            <a:gdLst/>
            <a:ahLst/>
            <a:cxnLst/>
            <a:rect r="r" b="b" t="t" l="l"/>
            <a:pathLst>
              <a:path h="440698" w="1339137">
                <a:moveTo>
                  <a:pt x="0" y="0"/>
                </a:moveTo>
                <a:lnTo>
                  <a:pt x="1339138" y="0"/>
                </a:lnTo>
                <a:lnTo>
                  <a:pt x="1339138" y="440698"/>
                </a:lnTo>
                <a:lnTo>
                  <a:pt x="0" y="4406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02872" y="6258166"/>
            <a:ext cx="2554641" cy="2554641"/>
          </a:xfrm>
          <a:custGeom>
            <a:avLst/>
            <a:gdLst/>
            <a:ahLst/>
            <a:cxnLst/>
            <a:rect r="r" b="b" t="t" l="l"/>
            <a:pathLst>
              <a:path h="2554641" w="2554641">
                <a:moveTo>
                  <a:pt x="0" y="0"/>
                </a:moveTo>
                <a:lnTo>
                  <a:pt x="2554641" y="0"/>
                </a:lnTo>
                <a:lnTo>
                  <a:pt x="2554641" y="2554641"/>
                </a:lnTo>
                <a:lnTo>
                  <a:pt x="0" y="25546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45553" y="683473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Latar Belakang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5553" y="1875999"/>
            <a:ext cx="7338635" cy="164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Keterlambatan diagn</a:t>
            </a: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osis disebabkan oleh:</a:t>
            </a:r>
          </a:p>
          <a:p>
            <a:pPr algn="l" marL="571358" indent="-285679" lvl="1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Keterbatasan jumlah radiolog</a:t>
            </a:r>
          </a:p>
          <a:p>
            <a:pPr algn="l" marL="571358" indent="-285679" lvl="1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Proses interpretasi X-ray yang manual</a:t>
            </a:r>
          </a:p>
          <a:p>
            <a:pPr algn="l" marL="571358" indent="-285679" lvl="1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Beban ker</a:t>
            </a: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ja</a:t>
            </a: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fasilitas kesehatan yang tinggi</a:t>
            </a:r>
          </a:p>
          <a:p>
            <a:pPr algn="l">
              <a:lnSpc>
                <a:spcPts val="2646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342361"/>
            <a:ext cx="4411528" cy="48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7"/>
              </a:lnSpc>
            </a:pPr>
            <a:r>
              <a:rPr lang="en-US" sz="3557" spc="-281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Peluang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6234293"/>
            <a:ext cx="10696944" cy="164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 AI berbasis deep learning mampu menganali</a:t>
            </a: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sis citra rontgen secara cepat dan konsisten.</a:t>
            </a:r>
          </a:p>
          <a:p>
            <a:pPr algn="l">
              <a:lnSpc>
                <a:spcPts val="2646"/>
              </a:lnSpc>
              <a:spcBef>
                <a:spcPct val="0"/>
              </a:spcBef>
            </a:pPr>
          </a:p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2646" spc="-20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Studi menunjukkan model seperti ConvNeXt mampu mencapai akurasi hingga 90% dalam klasifikasi TB.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7696457" y="2564662"/>
            <a:ext cx="2611028" cy="1428944"/>
          </a:xfrm>
          <a:custGeom>
            <a:avLst/>
            <a:gdLst/>
            <a:ahLst/>
            <a:cxnLst/>
            <a:rect r="r" b="b" t="t" l="l"/>
            <a:pathLst>
              <a:path h="1428944" w="2611028">
                <a:moveTo>
                  <a:pt x="0" y="0"/>
                </a:moveTo>
                <a:lnTo>
                  <a:pt x="2611028" y="0"/>
                </a:lnTo>
                <a:lnTo>
                  <a:pt x="2611028" y="1428944"/>
                </a:lnTo>
                <a:lnTo>
                  <a:pt x="0" y="14289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8011186" y="5447708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69618" y="5143500"/>
            <a:ext cx="2955567" cy="2597204"/>
          </a:xfrm>
          <a:custGeom>
            <a:avLst/>
            <a:gdLst/>
            <a:ahLst/>
            <a:cxnLst/>
            <a:rect r="r" b="b" t="t" l="l"/>
            <a:pathLst>
              <a:path h="2597204" w="2955567">
                <a:moveTo>
                  <a:pt x="0" y="0"/>
                </a:moveTo>
                <a:lnTo>
                  <a:pt x="2955567" y="0"/>
                </a:lnTo>
                <a:lnTo>
                  <a:pt x="2955567" y="2597204"/>
                </a:lnTo>
                <a:lnTo>
                  <a:pt x="0" y="25972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69618" y="1348186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Tujuan Proyek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305490"/>
            <a:ext cx="11267885" cy="2265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7896" indent="-283948" lvl="1">
              <a:lnSpc>
                <a:spcPts val="3682"/>
              </a:lnSpc>
              <a:spcBef>
                <a:spcPct val="0"/>
              </a:spcBef>
              <a:buAutoNum type="arabicPeriod" startAt="1"/>
            </a:pPr>
            <a:r>
              <a:rPr lang="en-US" sz="263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Mengembangkan model AI untuk klasifikasi TB dari X-ray</a:t>
            </a:r>
          </a:p>
          <a:p>
            <a:pPr algn="just" marL="567896" indent="-283948" lvl="1">
              <a:lnSpc>
                <a:spcPts val="3682"/>
              </a:lnSpc>
              <a:spcBef>
                <a:spcPct val="0"/>
              </a:spcBef>
              <a:buAutoNum type="arabicPeriod" startAt="1"/>
            </a:pPr>
            <a:r>
              <a:rPr lang="en-US" sz="263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Membandingkan dua pendekatan data (imbalanced vs balanced)</a:t>
            </a:r>
          </a:p>
          <a:p>
            <a:pPr algn="just" marL="567896" indent="-283948" lvl="1">
              <a:lnSpc>
                <a:spcPts val="3682"/>
              </a:lnSpc>
              <a:spcBef>
                <a:spcPct val="0"/>
              </a:spcBef>
              <a:buAutoNum type="arabicPeriod" startAt="1"/>
            </a:pPr>
            <a:r>
              <a:rPr lang="en-US" sz="263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Menyediakan interpretabilitas melalui Grad-CAM</a:t>
            </a:r>
          </a:p>
          <a:p>
            <a:pPr algn="just">
              <a:lnSpc>
                <a:spcPts val="3682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4560972" y="5408882"/>
            <a:ext cx="11979439" cy="2123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3"/>
              </a:lnSpc>
            </a:pPr>
            <a:r>
              <a:rPr lang="en-US" sz="3363" spc="-26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Fokus proyek ini bukan diagnosis final, melainkan skrining awal.</a:t>
            </a:r>
          </a:p>
          <a:p>
            <a:pPr algn="l">
              <a:lnSpc>
                <a:spcPts val="3363"/>
              </a:lnSpc>
            </a:pPr>
          </a:p>
          <a:p>
            <a:pPr algn="l">
              <a:lnSpc>
                <a:spcPts val="3363"/>
              </a:lnSpc>
              <a:spcBef>
                <a:spcPct val="0"/>
              </a:spcBef>
            </a:pPr>
            <a:r>
              <a:rPr lang="en-US" sz="3363" spc="-26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Aplikasi ini dirancang sebagai alat bantu tenaga medis untuk mempercepat proses pengambilan keputusan, terutama di fasilitas kesehatan dengan keterbatasan radiolog.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43657" y="968758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6" y="0"/>
                </a:lnTo>
                <a:lnTo>
                  <a:pt x="3488686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149300" y="1123950"/>
            <a:ext cx="3989399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</a:t>
            </a: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etodologi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1744343" y="-599420"/>
            <a:ext cx="3488687" cy="1198840"/>
          </a:xfrm>
          <a:custGeom>
            <a:avLst/>
            <a:gdLst/>
            <a:ahLst/>
            <a:cxnLst/>
            <a:rect r="r" b="b" t="t" l="l"/>
            <a:pathLst>
              <a:path h="1198840" w="3488687">
                <a:moveTo>
                  <a:pt x="0" y="0"/>
                </a:moveTo>
                <a:lnTo>
                  <a:pt x="3488686" y="0"/>
                </a:lnTo>
                <a:lnTo>
                  <a:pt x="3488686" y="1198840"/>
                </a:lnTo>
                <a:lnTo>
                  <a:pt x="0" y="1198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028331"/>
            <a:ext cx="10707657" cy="5043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7"/>
              </a:lnSpc>
              <a:spcBef>
                <a:spcPct val="0"/>
              </a:spcBef>
            </a:pP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en</a:t>
            </a: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dekatan: Deep Learning – Image Classification</a:t>
            </a:r>
          </a:p>
          <a:p>
            <a:pPr algn="l">
              <a:lnSpc>
                <a:spcPts val="4477"/>
              </a:lnSpc>
              <a:spcBef>
                <a:spcPct val="0"/>
              </a:spcBef>
            </a:pPr>
          </a:p>
          <a:p>
            <a:pPr algn="l">
              <a:lnSpc>
                <a:spcPts val="4477"/>
              </a:lnSpc>
              <a:spcBef>
                <a:spcPct val="0"/>
              </a:spcBef>
            </a:pP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Arsi</a:t>
            </a: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tektur utama: ConvNeXt</a:t>
            </a:r>
          </a:p>
          <a:p>
            <a:pPr algn="l">
              <a:lnSpc>
                <a:spcPts val="4477"/>
              </a:lnSpc>
              <a:spcBef>
                <a:spcPct val="0"/>
              </a:spcBef>
            </a:pPr>
          </a:p>
          <a:p>
            <a:pPr algn="l">
              <a:lnSpc>
                <a:spcPts val="4477"/>
              </a:lnSpc>
              <a:spcBef>
                <a:spcPct val="0"/>
              </a:spcBef>
            </a:pP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Dataset: Chest X-ray (Normal vs Tuberculosis)</a:t>
            </a:r>
          </a:p>
          <a:p>
            <a:pPr algn="l">
              <a:lnSpc>
                <a:spcPts val="4477"/>
              </a:lnSpc>
              <a:spcBef>
                <a:spcPct val="0"/>
              </a:spcBef>
            </a:pPr>
          </a:p>
          <a:p>
            <a:pPr algn="l">
              <a:lnSpc>
                <a:spcPts val="4477"/>
              </a:lnSpc>
              <a:spcBef>
                <a:spcPct val="0"/>
              </a:spcBef>
            </a:pP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St</a:t>
            </a: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rategi: Transfer Learning &amp; Explainable AI</a:t>
            </a:r>
          </a:p>
          <a:p>
            <a:pPr algn="l">
              <a:lnSpc>
                <a:spcPts val="4477"/>
              </a:lnSpc>
              <a:spcBef>
                <a:spcPct val="0"/>
              </a:spcBef>
            </a:pPr>
          </a:p>
          <a:p>
            <a:pPr algn="l">
              <a:lnSpc>
                <a:spcPts val="4477"/>
              </a:lnSpc>
              <a:spcBef>
                <a:spcPct val="0"/>
              </a:spcBef>
            </a:pPr>
            <a:r>
              <a:rPr lang="en-US" sz="31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Output: Prediksi + Visualisasi Grad-CAM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04685" y="2286827"/>
            <a:ext cx="6983031" cy="1981435"/>
          </a:xfrm>
          <a:custGeom>
            <a:avLst/>
            <a:gdLst/>
            <a:ahLst/>
            <a:cxnLst/>
            <a:rect r="r" b="b" t="t" l="l"/>
            <a:pathLst>
              <a:path h="1981435" w="6983031">
                <a:moveTo>
                  <a:pt x="0" y="0"/>
                </a:moveTo>
                <a:lnTo>
                  <a:pt x="6983031" y="0"/>
                </a:lnTo>
                <a:lnTo>
                  <a:pt x="6983031" y="1981435"/>
                </a:lnTo>
                <a:lnTo>
                  <a:pt x="0" y="19814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3027141" cy="78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39202"/>
            <a:ext cx="8565582" cy="360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Sumber Dataset : Kaggle </a:t>
            </a:r>
          </a:p>
          <a:p>
            <a:pPr algn="l">
              <a:lnSpc>
                <a:spcPts val="2865"/>
              </a:lnSpc>
            </a:pPr>
            <a:r>
              <a:rPr lang="en-US" sz="2046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Link : https://www.kaggle.com/datasets/tawsifurrahman/tuberculosis-tb-chest-xray-dataset</a:t>
            </a:r>
          </a:p>
          <a:p>
            <a:pPr algn="l">
              <a:lnSpc>
                <a:spcPts val="2865"/>
              </a:lnSpc>
            </a:pPr>
          </a:p>
          <a:p>
            <a:pPr algn="l" marL="441883" indent="-220942" lvl="1">
              <a:lnSpc>
                <a:spcPts val="2865"/>
              </a:lnSpc>
              <a:buFont typeface="Arial"/>
              <a:buChar char="•"/>
            </a:pPr>
            <a:r>
              <a:rPr lang="en-US" sz="2046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Total data: ± 4.000 citra (3500 Normal +700 Tuberculosis)</a:t>
            </a:r>
          </a:p>
          <a:p>
            <a:pPr algn="l" marL="441883" indent="-220942" lvl="1">
              <a:lnSpc>
                <a:spcPts val="2865"/>
              </a:lnSpc>
              <a:buFont typeface="Arial"/>
              <a:buChar char="•"/>
            </a:pPr>
            <a:r>
              <a:rPr lang="en-US" sz="2046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Kelas: Normal dan Tuberculosis</a:t>
            </a:r>
          </a:p>
          <a:p>
            <a:pPr algn="l" marL="441883" indent="-220942" lvl="1">
              <a:lnSpc>
                <a:spcPts val="2865"/>
              </a:lnSpc>
              <a:buFont typeface="Arial"/>
              <a:buChar char="•"/>
            </a:pPr>
            <a:r>
              <a:rPr lang="en-US" sz="2046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Format data: JPG / PNG</a:t>
            </a:r>
          </a:p>
          <a:p>
            <a:pPr algn="l" marL="441883" indent="-220942" lvl="1">
              <a:lnSpc>
                <a:spcPts val="2865"/>
              </a:lnSpc>
              <a:buFont typeface="Arial"/>
              <a:buChar char="•"/>
            </a:pPr>
            <a:r>
              <a:rPr lang="en-US" sz="2046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Data bersifat anonim dan open-source</a:t>
            </a:r>
          </a:p>
          <a:p>
            <a:pPr algn="l">
              <a:lnSpc>
                <a:spcPts val="2865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582150"/>
            <a:ext cx="16273862" cy="501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5"/>
              </a:lnSpc>
              <a:spcBef>
                <a:spcPct val="0"/>
              </a:spcBef>
            </a:pPr>
            <a:r>
              <a:rPr lang="en-US" sz="1975" spc="-15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Tawsifur Rahman, Amith Khandakar, Muhammad A. Kadir, Khandaker R. Islam, Khandaker F. Islam, Zaid B. Mahbub, Mohamed Arselene Ayari, Muhammad E. H. Chowdhury. (2020) "Reliable Tuberculosis Detection using Chest X-ray with Deep Learning, Segmentation and Visualization".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921199"/>
            <a:ext cx="11440991" cy="51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890"/>
              </a:lnSpc>
              <a:spcBef>
                <a:spcPct val="0"/>
              </a:spcBef>
            </a:pPr>
            <a:r>
              <a:rPr lang="en-US" sz="3890" spc="-30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Permasalahan Distribusi Data (Imbalance Issue)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610008"/>
            <a:ext cx="5504968" cy="395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7"/>
              </a:lnSpc>
              <a:spcBef>
                <a:spcPct val="0"/>
              </a:spcBef>
            </a:pPr>
            <a:r>
              <a:rPr lang="en-US" sz="2305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Rasio data asli: 5:1 (Normal : TB)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7235952"/>
            <a:ext cx="7630393" cy="235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26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Risiko:</a:t>
            </a:r>
          </a:p>
          <a:p>
            <a:pPr algn="l" marL="582393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Model bias ke kelas Normal</a:t>
            </a:r>
          </a:p>
          <a:p>
            <a:pPr algn="l" marL="582393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False Negative TB berbahaya secara medis.</a:t>
            </a:r>
          </a:p>
          <a:p>
            <a:pPr algn="l">
              <a:lnSpc>
                <a:spcPts val="3776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659093" y="7235952"/>
            <a:ext cx="7630393" cy="188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26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Solusi:</a:t>
            </a:r>
          </a:p>
          <a:p>
            <a:pPr algn="l" marL="582393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Model A: Class Weighting</a:t>
            </a:r>
          </a:p>
          <a:p>
            <a:pPr algn="l" marL="582393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Model B: Balanced Dataset</a:t>
            </a:r>
          </a:p>
          <a:p>
            <a:pPr algn="l">
              <a:lnSpc>
                <a:spcPts val="37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683482"/>
            <a:ext cx="6111683" cy="78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Arsitektur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711560"/>
            <a:ext cx="15321568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Backbone</a:t>
            </a:r>
            <a:r>
              <a:rPr lang="en-US" sz="2700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: convnext_tiny (pretrained on ImageNet) dari library timm.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Pendekatan: Transfer learning, gunakan backbone sebagai feature extractor lalu fine-tune head (Linear 768→2).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Loss: CrossEntropyLoss.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1D1B19"/>
                </a:solidFill>
                <a:latin typeface="Garet"/>
                <a:ea typeface="Garet"/>
                <a:cs typeface="Garet"/>
                <a:sym typeface="Garet"/>
              </a:rPr>
              <a:t>Optimizer: Adam atau AdamW, LR awal 1e-4.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541766"/>
            <a:ext cx="16453534" cy="188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b="true" sz="269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Preprocessing:</a:t>
            </a:r>
          </a:p>
          <a:p>
            <a:pPr algn="l" marL="582392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Resize ke 224×224</a:t>
            </a:r>
          </a:p>
          <a:p>
            <a:pPr algn="l" marL="582392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Normalisasi (ImageNet mean &amp; std)</a:t>
            </a:r>
          </a:p>
          <a:p>
            <a:pPr algn="l" marL="582392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augmentation (RandomHorizontalFlip, RandomRotation ringan, RandomResizedCrop)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2370551"/>
            <a:ext cx="7962206" cy="4725748"/>
            <a:chOff x="0" y="0"/>
            <a:chExt cx="2004579" cy="11897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04579" cy="1189762"/>
            </a:xfrm>
            <a:custGeom>
              <a:avLst/>
              <a:gdLst/>
              <a:ahLst/>
              <a:cxnLst/>
              <a:rect r="r" b="b" t="t" l="l"/>
              <a:pathLst>
                <a:path h="1189762" w="2004579">
                  <a:moveTo>
                    <a:pt x="14585" y="0"/>
                  </a:moveTo>
                  <a:lnTo>
                    <a:pt x="1989994" y="0"/>
                  </a:lnTo>
                  <a:cubicBezTo>
                    <a:pt x="1993862" y="0"/>
                    <a:pt x="1997572" y="1537"/>
                    <a:pt x="2000307" y="4272"/>
                  </a:cubicBezTo>
                  <a:cubicBezTo>
                    <a:pt x="2003042" y="7007"/>
                    <a:pt x="2004579" y="10717"/>
                    <a:pt x="2004579" y="14585"/>
                  </a:cubicBezTo>
                  <a:lnTo>
                    <a:pt x="2004579" y="1175177"/>
                  </a:lnTo>
                  <a:cubicBezTo>
                    <a:pt x="2004579" y="1179046"/>
                    <a:pt x="2003042" y="1182755"/>
                    <a:pt x="2000307" y="1185491"/>
                  </a:cubicBezTo>
                  <a:cubicBezTo>
                    <a:pt x="1997572" y="1188226"/>
                    <a:pt x="1993862" y="1189762"/>
                    <a:pt x="1989994" y="1189762"/>
                  </a:cubicBezTo>
                  <a:lnTo>
                    <a:pt x="14585" y="1189762"/>
                  </a:lnTo>
                  <a:cubicBezTo>
                    <a:pt x="10717" y="1189762"/>
                    <a:pt x="7007" y="1188226"/>
                    <a:pt x="4272" y="1185491"/>
                  </a:cubicBezTo>
                  <a:cubicBezTo>
                    <a:pt x="1537" y="1182755"/>
                    <a:pt x="0" y="1179046"/>
                    <a:pt x="0" y="1175177"/>
                  </a:cubicBezTo>
                  <a:lnTo>
                    <a:pt x="0" y="14585"/>
                  </a:lnTo>
                  <a:cubicBezTo>
                    <a:pt x="0" y="10717"/>
                    <a:pt x="1537" y="7007"/>
                    <a:pt x="4272" y="4272"/>
                  </a:cubicBezTo>
                  <a:cubicBezTo>
                    <a:pt x="7007" y="1537"/>
                    <a:pt x="10717" y="0"/>
                    <a:pt x="145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004579" cy="1237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473130" y="903819"/>
            <a:ext cx="9647927" cy="78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A &amp; B Train Strategy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78984" y="2843369"/>
            <a:ext cx="1861638" cy="48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70"/>
              </a:lnSpc>
              <a:spcBef>
                <a:spcPct val="0"/>
              </a:spcBef>
            </a:pPr>
            <a:r>
              <a:rPr lang="en-US" sz="3670" spc="-28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97094" y="2370551"/>
            <a:ext cx="7962206" cy="5317454"/>
            <a:chOff x="0" y="0"/>
            <a:chExt cx="2004579" cy="13387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04579" cy="1338731"/>
            </a:xfrm>
            <a:custGeom>
              <a:avLst/>
              <a:gdLst/>
              <a:ahLst/>
              <a:cxnLst/>
              <a:rect r="r" b="b" t="t" l="l"/>
              <a:pathLst>
                <a:path h="1338731" w="2004579">
                  <a:moveTo>
                    <a:pt x="14585" y="0"/>
                  </a:moveTo>
                  <a:lnTo>
                    <a:pt x="1989994" y="0"/>
                  </a:lnTo>
                  <a:cubicBezTo>
                    <a:pt x="1993862" y="0"/>
                    <a:pt x="1997572" y="1537"/>
                    <a:pt x="2000307" y="4272"/>
                  </a:cubicBezTo>
                  <a:cubicBezTo>
                    <a:pt x="2003042" y="7007"/>
                    <a:pt x="2004579" y="10717"/>
                    <a:pt x="2004579" y="14585"/>
                  </a:cubicBezTo>
                  <a:lnTo>
                    <a:pt x="2004579" y="1324146"/>
                  </a:lnTo>
                  <a:cubicBezTo>
                    <a:pt x="2004579" y="1332201"/>
                    <a:pt x="1998049" y="1338731"/>
                    <a:pt x="1989994" y="1338731"/>
                  </a:cubicBezTo>
                  <a:lnTo>
                    <a:pt x="14585" y="1338731"/>
                  </a:lnTo>
                  <a:cubicBezTo>
                    <a:pt x="10717" y="1338731"/>
                    <a:pt x="7007" y="1337195"/>
                    <a:pt x="4272" y="1334459"/>
                  </a:cubicBezTo>
                  <a:cubicBezTo>
                    <a:pt x="1537" y="1331724"/>
                    <a:pt x="0" y="1328014"/>
                    <a:pt x="0" y="1324146"/>
                  </a:cubicBezTo>
                  <a:lnTo>
                    <a:pt x="0" y="14585"/>
                  </a:lnTo>
                  <a:cubicBezTo>
                    <a:pt x="0" y="10717"/>
                    <a:pt x="1537" y="7007"/>
                    <a:pt x="4272" y="4272"/>
                  </a:cubicBezTo>
                  <a:cubicBezTo>
                    <a:pt x="7007" y="1537"/>
                    <a:pt x="10717" y="0"/>
                    <a:pt x="145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004579" cy="13863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266893" y="2843369"/>
            <a:ext cx="1854164" cy="48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70"/>
              </a:lnSpc>
              <a:spcBef>
                <a:spcPct val="0"/>
              </a:spcBef>
            </a:pPr>
            <a:r>
              <a:rPr lang="en-US" sz="3670" spc="-289">
                <a:solidFill>
                  <a:srgbClr val="1D1B19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99833" y="3545686"/>
            <a:ext cx="7130006" cy="378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Distribusi data: mengikuti kondisi dunia nyata (Normal &gt; TB)</a:t>
            </a:r>
          </a:p>
          <a:p>
            <a:pPr algn="l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Loss Function: Weighted Cross Entropy</a:t>
            </a:r>
          </a:p>
          <a:p>
            <a:pPr algn="l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Tujuan:</a:t>
            </a:r>
          </a:p>
          <a:p>
            <a:pPr algn="l" marL="582392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Menangani ketidakseimbangan kelas</a:t>
            </a:r>
          </a:p>
          <a:p>
            <a:pPr algn="l" marL="582392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Meningkatkan sensitivitas TB</a:t>
            </a:r>
          </a:p>
          <a:p>
            <a:pPr algn="l">
              <a:lnSpc>
                <a:spcPts val="3776"/>
              </a:lnSpc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Learning Rate: 1e-4</a:t>
            </a:r>
          </a:p>
          <a:p>
            <a:pPr algn="l">
              <a:lnSpc>
                <a:spcPts val="3776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628972" y="3545686"/>
            <a:ext cx="7448616" cy="3789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Distribusi data: 1:1 (Normal = TB)</a:t>
            </a:r>
          </a:p>
          <a:p>
            <a:pPr algn="l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Loss Function: Standard Cross Entropy</a:t>
            </a:r>
          </a:p>
          <a:p>
            <a:pPr algn="l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Tujuan:</a:t>
            </a:r>
          </a:p>
          <a:p>
            <a:pPr algn="l" marL="582392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Mengurangi bias terhadap kelas mayoritas</a:t>
            </a:r>
          </a:p>
          <a:p>
            <a:pPr algn="l" marL="582392" indent="-291196" lvl="1">
              <a:lnSpc>
                <a:spcPts val="3776"/>
              </a:lnSpc>
              <a:buFont typeface="Arial"/>
              <a:buChar char="•"/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Meningkatkan interpretabilitas Grad-CAM</a:t>
            </a:r>
          </a:p>
          <a:p>
            <a:pPr algn="l">
              <a:lnSpc>
                <a:spcPts val="3776"/>
              </a:lnSpc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Learning Rate : 5e-5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553869"/>
            <a:ext cx="5053752" cy="1884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6"/>
              </a:lnSpc>
            </a:pPr>
            <a:r>
              <a:rPr lang="en-US" sz="2697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Hyperparameter Training</a:t>
            </a:r>
          </a:p>
          <a:p>
            <a:pPr algn="just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Epoch maksimum: 20</a:t>
            </a:r>
          </a:p>
          <a:p>
            <a:pPr algn="just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Regularisasi:</a:t>
            </a:r>
          </a:p>
          <a:p>
            <a:pPr algn="just">
              <a:lnSpc>
                <a:spcPts val="3776"/>
              </a:lnSpc>
              <a:spcBef>
                <a:spcPct val="0"/>
              </a:spcBef>
            </a:pPr>
            <a:r>
              <a:rPr lang="en-US" sz="269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Early Stopping (patience = 2)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5359" y="877361"/>
            <a:ext cx="909728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Evaluasi dan Deployment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370551"/>
            <a:ext cx="7962206" cy="3696817"/>
            <a:chOff x="0" y="0"/>
            <a:chExt cx="2004579" cy="9307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4579" cy="930717"/>
            </a:xfrm>
            <a:custGeom>
              <a:avLst/>
              <a:gdLst/>
              <a:ahLst/>
              <a:cxnLst/>
              <a:rect r="r" b="b" t="t" l="l"/>
              <a:pathLst>
                <a:path h="930717" w="2004579">
                  <a:moveTo>
                    <a:pt x="14585" y="0"/>
                  </a:moveTo>
                  <a:lnTo>
                    <a:pt x="1989994" y="0"/>
                  </a:lnTo>
                  <a:cubicBezTo>
                    <a:pt x="1993862" y="0"/>
                    <a:pt x="1997572" y="1537"/>
                    <a:pt x="2000307" y="4272"/>
                  </a:cubicBezTo>
                  <a:cubicBezTo>
                    <a:pt x="2003042" y="7007"/>
                    <a:pt x="2004579" y="10717"/>
                    <a:pt x="2004579" y="14585"/>
                  </a:cubicBezTo>
                  <a:lnTo>
                    <a:pt x="2004579" y="916132"/>
                  </a:lnTo>
                  <a:cubicBezTo>
                    <a:pt x="2004579" y="920000"/>
                    <a:pt x="2003042" y="923710"/>
                    <a:pt x="2000307" y="926445"/>
                  </a:cubicBezTo>
                  <a:cubicBezTo>
                    <a:pt x="1997572" y="929180"/>
                    <a:pt x="1993862" y="930717"/>
                    <a:pt x="1989994" y="930717"/>
                  </a:cubicBezTo>
                  <a:lnTo>
                    <a:pt x="14585" y="930717"/>
                  </a:lnTo>
                  <a:cubicBezTo>
                    <a:pt x="6530" y="930717"/>
                    <a:pt x="0" y="924187"/>
                    <a:pt x="0" y="916132"/>
                  </a:cubicBezTo>
                  <a:lnTo>
                    <a:pt x="0" y="14585"/>
                  </a:lnTo>
                  <a:cubicBezTo>
                    <a:pt x="0" y="10717"/>
                    <a:pt x="1537" y="7007"/>
                    <a:pt x="4272" y="4272"/>
                  </a:cubicBezTo>
                  <a:cubicBezTo>
                    <a:pt x="7007" y="1537"/>
                    <a:pt x="10717" y="0"/>
                    <a:pt x="1458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004579" cy="978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90378" y="3245355"/>
            <a:ext cx="7438851" cy="2360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Met</a:t>
            </a: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rik utama: Accuracy, Precision, Recall, F1-score, AUC-ROC.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Visualisasi: Confusion matrix, kurva ROC, Grad-CAM untuk interpretabilitas.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050404" y="2627935"/>
            <a:ext cx="1918798" cy="48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70"/>
              </a:lnSpc>
              <a:spcBef>
                <a:spcPct val="0"/>
              </a:spcBef>
            </a:pPr>
            <a:r>
              <a:rPr lang="en-US" sz="3670" spc="-28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Evaluasi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7094" y="2370551"/>
            <a:ext cx="7962206" cy="3235099"/>
            <a:chOff x="0" y="0"/>
            <a:chExt cx="2004579" cy="81447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04579" cy="814474"/>
            </a:xfrm>
            <a:custGeom>
              <a:avLst/>
              <a:gdLst/>
              <a:ahLst/>
              <a:cxnLst/>
              <a:rect r="r" b="b" t="t" l="l"/>
              <a:pathLst>
                <a:path h="814474" w="2004579">
                  <a:moveTo>
                    <a:pt x="14585" y="0"/>
                  </a:moveTo>
                  <a:lnTo>
                    <a:pt x="1989994" y="0"/>
                  </a:lnTo>
                  <a:cubicBezTo>
                    <a:pt x="1993862" y="0"/>
                    <a:pt x="1997572" y="1537"/>
                    <a:pt x="2000307" y="4272"/>
                  </a:cubicBezTo>
                  <a:cubicBezTo>
                    <a:pt x="2003042" y="7007"/>
                    <a:pt x="2004579" y="10717"/>
                    <a:pt x="2004579" y="14585"/>
                  </a:cubicBezTo>
                  <a:lnTo>
                    <a:pt x="2004579" y="799889"/>
                  </a:lnTo>
                  <a:cubicBezTo>
                    <a:pt x="2004579" y="803757"/>
                    <a:pt x="2003042" y="807467"/>
                    <a:pt x="2000307" y="810202"/>
                  </a:cubicBezTo>
                  <a:cubicBezTo>
                    <a:pt x="1997572" y="812937"/>
                    <a:pt x="1993862" y="814474"/>
                    <a:pt x="1989994" y="814474"/>
                  </a:cubicBezTo>
                  <a:lnTo>
                    <a:pt x="14585" y="814474"/>
                  </a:lnTo>
                  <a:cubicBezTo>
                    <a:pt x="6530" y="814474"/>
                    <a:pt x="0" y="807944"/>
                    <a:pt x="0" y="799889"/>
                  </a:cubicBezTo>
                  <a:lnTo>
                    <a:pt x="0" y="14585"/>
                  </a:lnTo>
                  <a:cubicBezTo>
                    <a:pt x="0" y="10717"/>
                    <a:pt x="1537" y="7007"/>
                    <a:pt x="4272" y="4272"/>
                  </a:cubicBezTo>
                  <a:cubicBezTo>
                    <a:pt x="7007" y="1537"/>
                    <a:pt x="10717" y="0"/>
                    <a:pt x="14585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004579" cy="862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58771" y="3417921"/>
            <a:ext cx="7438851" cy="1884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Framewo</a:t>
            </a: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rk: Streamlit.</a:t>
            </a:r>
          </a:p>
          <a:p>
            <a:pPr algn="l" marL="582930" indent="-291465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Fitur: Upload image → preprocess → prediksi → tampilkan label, confidence, dan heatmap Grad-CAM.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86455" y="2627935"/>
            <a:ext cx="2983483" cy="48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70"/>
              </a:lnSpc>
              <a:spcBef>
                <a:spcPct val="0"/>
              </a:spcBef>
            </a:pPr>
            <a:r>
              <a:rPr lang="en-US" sz="3670" spc="-289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Deploy (MVP)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454103" y="4357796"/>
            <a:ext cx="937979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Perbandingan Dua Model</a:t>
            </a:r>
          </a:p>
        </p:txBody>
      </p:sp>
      <p:sp>
        <p:nvSpPr>
          <p:cNvPr name="AutoShape 6" id="6"/>
          <p:cNvSpPr/>
          <p:nvPr/>
        </p:nvSpPr>
        <p:spPr>
          <a:xfrm>
            <a:off x="5897880" y="5143500"/>
            <a:ext cx="649224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937979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560" y="2884170"/>
            <a:ext cx="9271934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Model A lebih realistis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Imbalance secara alami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Menggunakan class weighting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Punishment lebih untuk misprediction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155" y="5109210"/>
            <a:ext cx="800744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Metrics: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Accuracy: 99.52%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97.89%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99.29%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98.58%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531376"/>
            <a:ext cx="6900729" cy="5750608"/>
          </a:xfrm>
          <a:custGeom>
            <a:avLst/>
            <a:gdLst/>
            <a:ahLst/>
            <a:cxnLst/>
            <a:rect r="r" b="b" t="t" l="l"/>
            <a:pathLst>
              <a:path h="5750608" w="6900729">
                <a:moveTo>
                  <a:pt x="0" y="0"/>
                </a:moveTo>
                <a:lnTo>
                  <a:pt x="6900729" y="0"/>
                </a:lnTo>
                <a:lnTo>
                  <a:pt x="6900729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40296" y="2531376"/>
            <a:ext cx="6900729" cy="5750608"/>
          </a:xfrm>
          <a:custGeom>
            <a:avLst/>
            <a:gdLst/>
            <a:ahLst/>
            <a:cxnLst/>
            <a:rect r="r" b="b" t="t" l="l"/>
            <a:pathLst>
              <a:path h="5750608" w="6900729">
                <a:moveTo>
                  <a:pt x="0" y="0"/>
                </a:moveTo>
                <a:lnTo>
                  <a:pt x="6900730" y="0"/>
                </a:lnTo>
                <a:lnTo>
                  <a:pt x="6900730" y="5750608"/>
                </a:lnTo>
                <a:lnTo>
                  <a:pt x="0" y="57506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937979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A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937979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560" y="2579087"/>
            <a:ext cx="8007440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 Seimbang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Akurasi yang sangat tinggi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Resiko Overfitting dan tidak cocok untuk dunia nyata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24155" y="5109210"/>
            <a:ext cx="800744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Metrics: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Accuracy: 100%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100%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100% (Sensitivity)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Specificity: 100%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100%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093663"/>
            <a:ext cx="7360090" cy="6099674"/>
          </a:xfrm>
          <a:custGeom>
            <a:avLst/>
            <a:gdLst/>
            <a:ahLst/>
            <a:cxnLst/>
            <a:rect r="r" b="b" t="t" l="l"/>
            <a:pathLst>
              <a:path h="6099674" w="7360090">
                <a:moveTo>
                  <a:pt x="0" y="0"/>
                </a:moveTo>
                <a:lnTo>
                  <a:pt x="7360090" y="0"/>
                </a:lnTo>
                <a:lnTo>
                  <a:pt x="7360090" y="6099674"/>
                </a:lnTo>
                <a:lnTo>
                  <a:pt x="0" y="60996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63807" y="2093663"/>
            <a:ext cx="7368800" cy="6097682"/>
          </a:xfrm>
          <a:custGeom>
            <a:avLst/>
            <a:gdLst/>
            <a:ahLst/>
            <a:cxnLst/>
            <a:rect r="r" b="b" t="t" l="l"/>
            <a:pathLst>
              <a:path h="6097682" w="7368800">
                <a:moveTo>
                  <a:pt x="0" y="0"/>
                </a:moveTo>
                <a:lnTo>
                  <a:pt x="7368800" y="0"/>
                </a:lnTo>
                <a:lnTo>
                  <a:pt x="7368800" y="6097681"/>
                </a:lnTo>
                <a:lnTo>
                  <a:pt x="0" y="60976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937979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B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937979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B (Second Try)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6560" y="2579087"/>
            <a:ext cx="80074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 yang sama dengan learning rate yang berbeda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2646" y="4293587"/>
            <a:ext cx="8007440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Metrics: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Accuracy:     94.29%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Precision:    95.59%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Recall:       92.86% (Sensitivity)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Specificity:  95.71%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F1-score:     94.20%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298991"/>
            <a:ext cx="7282775" cy="6117531"/>
          </a:xfrm>
          <a:custGeom>
            <a:avLst/>
            <a:gdLst/>
            <a:ahLst/>
            <a:cxnLst/>
            <a:rect r="r" b="b" t="t" l="l"/>
            <a:pathLst>
              <a:path h="6117531" w="7282775">
                <a:moveTo>
                  <a:pt x="0" y="0"/>
                </a:moveTo>
                <a:lnTo>
                  <a:pt x="7282775" y="0"/>
                </a:lnTo>
                <a:lnTo>
                  <a:pt x="7282775" y="6117531"/>
                </a:lnTo>
                <a:lnTo>
                  <a:pt x="0" y="6117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66738" y="2306910"/>
            <a:ext cx="7316901" cy="6109612"/>
          </a:xfrm>
          <a:custGeom>
            <a:avLst/>
            <a:gdLst/>
            <a:ahLst/>
            <a:cxnLst/>
            <a:rect r="r" b="b" t="t" l="l"/>
            <a:pathLst>
              <a:path h="6109612" w="7316901">
                <a:moveTo>
                  <a:pt x="0" y="0"/>
                </a:moveTo>
                <a:lnTo>
                  <a:pt x="7316901" y="0"/>
                </a:lnTo>
                <a:lnTo>
                  <a:pt x="7316901" y="6109612"/>
                </a:lnTo>
                <a:lnTo>
                  <a:pt x="0" y="61096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9379794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B (Second Try)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5359" y="877361"/>
            <a:ext cx="9097282" cy="140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Explainable AI</a:t>
            </a:r>
          </a:p>
          <a:p>
            <a:pPr algn="ctr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Using GRAD-CAM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746637"/>
            <a:ext cx="7962206" cy="3235099"/>
            <a:chOff x="0" y="0"/>
            <a:chExt cx="10616275" cy="4313466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616275" cy="4313466"/>
              <a:chOff x="0" y="0"/>
              <a:chExt cx="2004579" cy="81447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004579" cy="814474"/>
              </a:xfrm>
              <a:custGeom>
                <a:avLst/>
                <a:gdLst/>
                <a:ahLst/>
                <a:cxnLst/>
                <a:rect r="r" b="b" t="t" l="l"/>
                <a:pathLst>
                  <a:path h="814474" w="2004579">
                    <a:moveTo>
                      <a:pt x="14585" y="0"/>
                    </a:moveTo>
                    <a:lnTo>
                      <a:pt x="1989994" y="0"/>
                    </a:lnTo>
                    <a:cubicBezTo>
                      <a:pt x="1993862" y="0"/>
                      <a:pt x="1997572" y="1537"/>
                      <a:pt x="2000307" y="4272"/>
                    </a:cubicBezTo>
                    <a:cubicBezTo>
                      <a:pt x="2003042" y="7007"/>
                      <a:pt x="2004579" y="10717"/>
                      <a:pt x="2004579" y="14585"/>
                    </a:cubicBezTo>
                    <a:lnTo>
                      <a:pt x="2004579" y="799889"/>
                    </a:lnTo>
                    <a:cubicBezTo>
                      <a:pt x="2004579" y="803757"/>
                      <a:pt x="2003042" y="807467"/>
                      <a:pt x="2000307" y="810202"/>
                    </a:cubicBezTo>
                    <a:cubicBezTo>
                      <a:pt x="1997572" y="812937"/>
                      <a:pt x="1993862" y="814474"/>
                      <a:pt x="1989994" y="814474"/>
                    </a:cubicBezTo>
                    <a:lnTo>
                      <a:pt x="14585" y="814474"/>
                    </a:lnTo>
                    <a:cubicBezTo>
                      <a:pt x="6530" y="814474"/>
                      <a:pt x="0" y="807944"/>
                      <a:pt x="0" y="799889"/>
                    </a:cubicBezTo>
                    <a:lnTo>
                      <a:pt x="0" y="14585"/>
                    </a:lnTo>
                    <a:cubicBezTo>
                      <a:pt x="0" y="10717"/>
                      <a:pt x="1537" y="7007"/>
                      <a:pt x="4272" y="4272"/>
                    </a:cubicBezTo>
                    <a:cubicBezTo>
                      <a:pt x="7007" y="1537"/>
                      <a:pt x="10717" y="0"/>
                      <a:pt x="1458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2004579" cy="86209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48904" y="1412369"/>
              <a:ext cx="9918468" cy="1861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0" indent="-291465" lvl="1">
                <a:lnSpc>
                  <a:spcPts val="3779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Menjelaskan keputusan model</a:t>
              </a:r>
            </a:p>
            <a:p>
              <a:pPr algn="l" marL="582930" indent="-291465" lvl="1">
                <a:lnSpc>
                  <a:spcPts val="37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Meningkatkan kepercayaan dan validasi medis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3319149" y="320954"/>
              <a:ext cx="3977978" cy="667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70"/>
                </a:lnSpc>
                <a:spcBef>
                  <a:spcPct val="0"/>
                </a:spcBef>
              </a:pPr>
              <a:r>
                <a:rPr lang="en-US" sz="3670" spc="-2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Tujuan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711538" y="2746637"/>
            <a:ext cx="7962206" cy="2758849"/>
            <a:chOff x="0" y="0"/>
            <a:chExt cx="10616275" cy="367846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0616275" cy="3678466"/>
              <a:chOff x="0" y="0"/>
              <a:chExt cx="2004579" cy="694573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004579" cy="694573"/>
              </a:xfrm>
              <a:custGeom>
                <a:avLst/>
                <a:gdLst/>
                <a:ahLst/>
                <a:cxnLst/>
                <a:rect r="r" b="b" t="t" l="l"/>
                <a:pathLst>
                  <a:path h="694573" w="2004579">
                    <a:moveTo>
                      <a:pt x="14585" y="0"/>
                    </a:moveTo>
                    <a:lnTo>
                      <a:pt x="1989994" y="0"/>
                    </a:lnTo>
                    <a:cubicBezTo>
                      <a:pt x="1993862" y="0"/>
                      <a:pt x="1997572" y="1537"/>
                      <a:pt x="2000307" y="4272"/>
                    </a:cubicBezTo>
                    <a:cubicBezTo>
                      <a:pt x="2003042" y="7007"/>
                      <a:pt x="2004579" y="10717"/>
                      <a:pt x="2004579" y="14585"/>
                    </a:cubicBezTo>
                    <a:lnTo>
                      <a:pt x="2004579" y="679988"/>
                    </a:lnTo>
                    <a:cubicBezTo>
                      <a:pt x="2004579" y="688043"/>
                      <a:pt x="1998049" y="694573"/>
                      <a:pt x="1989994" y="694573"/>
                    </a:cubicBezTo>
                    <a:lnTo>
                      <a:pt x="14585" y="694573"/>
                    </a:lnTo>
                    <a:cubicBezTo>
                      <a:pt x="10717" y="694573"/>
                      <a:pt x="7007" y="693036"/>
                      <a:pt x="4272" y="690301"/>
                    </a:cubicBezTo>
                    <a:cubicBezTo>
                      <a:pt x="1537" y="687566"/>
                      <a:pt x="0" y="683856"/>
                      <a:pt x="0" y="679988"/>
                    </a:cubicBezTo>
                    <a:lnTo>
                      <a:pt x="0" y="14585"/>
                    </a:lnTo>
                    <a:cubicBezTo>
                      <a:pt x="0" y="10717"/>
                      <a:pt x="1537" y="7007"/>
                      <a:pt x="4272" y="4272"/>
                    </a:cubicBezTo>
                    <a:cubicBezTo>
                      <a:pt x="7007" y="1537"/>
                      <a:pt x="10717" y="0"/>
                      <a:pt x="1458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47625"/>
                <a:ext cx="2004579" cy="7421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48904" y="1412369"/>
              <a:ext cx="9918468" cy="122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0" indent="-291465" lvl="1">
                <a:lnSpc>
                  <a:spcPts val="3779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Penerapan Grad-CAM ke kedua model</a:t>
              </a:r>
            </a:p>
            <a:p>
              <a:pPr algn="l" marL="582930" indent="-291465" lvl="1">
                <a:lnSpc>
                  <a:spcPts val="377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Visualisasi heatmap pada citra Xray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3319149" y="320954"/>
              <a:ext cx="3977978" cy="667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70"/>
                </a:lnSpc>
                <a:spcBef>
                  <a:spcPct val="0"/>
                </a:spcBef>
              </a:pPr>
              <a:r>
                <a:rPr lang="en-US" sz="3670" spc="-2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Metode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517147" y="6151073"/>
            <a:ext cx="7962206" cy="3692299"/>
            <a:chOff x="0" y="0"/>
            <a:chExt cx="10616275" cy="4923066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616275" cy="4923066"/>
              <a:chOff x="0" y="0"/>
              <a:chExt cx="2004579" cy="92958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004579" cy="929580"/>
              </a:xfrm>
              <a:custGeom>
                <a:avLst/>
                <a:gdLst/>
                <a:ahLst/>
                <a:cxnLst/>
                <a:rect r="r" b="b" t="t" l="l"/>
                <a:pathLst>
                  <a:path h="929580" w="2004579">
                    <a:moveTo>
                      <a:pt x="14585" y="0"/>
                    </a:moveTo>
                    <a:lnTo>
                      <a:pt x="1989994" y="0"/>
                    </a:lnTo>
                    <a:cubicBezTo>
                      <a:pt x="1993862" y="0"/>
                      <a:pt x="1997572" y="1537"/>
                      <a:pt x="2000307" y="4272"/>
                    </a:cubicBezTo>
                    <a:cubicBezTo>
                      <a:pt x="2003042" y="7007"/>
                      <a:pt x="2004579" y="10717"/>
                      <a:pt x="2004579" y="14585"/>
                    </a:cubicBezTo>
                    <a:lnTo>
                      <a:pt x="2004579" y="914995"/>
                    </a:lnTo>
                    <a:cubicBezTo>
                      <a:pt x="2004579" y="918863"/>
                      <a:pt x="2003042" y="922573"/>
                      <a:pt x="2000307" y="925308"/>
                    </a:cubicBezTo>
                    <a:cubicBezTo>
                      <a:pt x="1997572" y="928043"/>
                      <a:pt x="1993862" y="929580"/>
                      <a:pt x="1989994" y="929580"/>
                    </a:cubicBezTo>
                    <a:lnTo>
                      <a:pt x="14585" y="929580"/>
                    </a:lnTo>
                    <a:cubicBezTo>
                      <a:pt x="10717" y="929580"/>
                      <a:pt x="7007" y="928043"/>
                      <a:pt x="4272" y="925308"/>
                    </a:cubicBezTo>
                    <a:cubicBezTo>
                      <a:pt x="1537" y="922573"/>
                      <a:pt x="0" y="918863"/>
                      <a:pt x="0" y="914995"/>
                    </a:cubicBezTo>
                    <a:lnTo>
                      <a:pt x="0" y="14585"/>
                    </a:lnTo>
                    <a:cubicBezTo>
                      <a:pt x="0" y="10717"/>
                      <a:pt x="1537" y="7007"/>
                      <a:pt x="4272" y="4272"/>
                    </a:cubicBezTo>
                    <a:cubicBezTo>
                      <a:pt x="7007" y="1537"/>
                      <a:pt x="10717" y="0"/>
                      <a:pt x="14585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2004579" cy="97720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48904" y="2021969"/>
              <a:ext cx="9918468" cy="249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30" indent="-291465" lvl="1">
                <a:lnSpc>
                  <a:spcPts val="3779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Full Image Scan</a:t>
              </a:r>
            </a:p>
            <a:p>
              <a:pPr algn="l" marL="582930" indent="-291465" lvl="1">
                <a:lnSpc>
                  <a:spcPts val="3779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Lung-Focused Scan:</a:t>
              </a:r>
            </a:p>
            <a:p>
              <a:pPr algn="l">
                <a:lnSpc>
                  <a:spcPts val="3779"/>
                </a:lnSpc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Mengurangi fokus pada area non-paru</a:t>
              </a:r>
            </a:p>
            <a:p>
              <a:pPr algn="l">
                <a:lnSpc>
                  <a:spcPts val="3779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Lebih relevan untuk periksa klinis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891443" y="577388"/>
              <a:ext cx="4833389" cy="667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70"/>
                </a:lnSpc>
                <a:spcBef>
                  <a:spcPct val="0"/>
                </a:spcBef>
              </a:pPr>
              <a:r>
                <a:rPr lang="en-US" sz="3670" spc="-289">
                  <a:solidFill>
                    <a:srgbClr val="FFFFFF"/>
                  </a:solidFill>
                  <a:latin typeface="Archivo Black"/>
                  <a:ea typeface="Archivo Black"/>
                  <a:cs typeface="Archivo Black"/>
                  <a:sym typeface="Archivo Black"/>
                </a:rPr>
                <a:t>Jenis Grad-CAM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5921" y="2691246"/>
            <a:ext cx="8558079" cy="5668813"/>
          </a:xfrm>
          <a:custGeom>
            <a:avLst/>
            <a:gdLst/>
            <a:ahLst/>
            <a:cxnLst/>
            <a:rect r="r" b="b" t="t" l="l"/>
            <a:pathLst>
              <a:path h="5668813" w="8558079">
                <a:moveTo>
                  <a:pt x="0" y="0"/>
                </a:moveTo>
                <a:lnTo>
                  <a:pt x="8558079" y="0"/>
                </a:lnTo>
                <a:lnTo>
                  <a:pt x="8558079" y="5668814"/>
                </a:lnTo>
                <a:lnTo>
                  <a:pt x="0" y="56688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3601" y="2691246"/>
            <a:ext cx="8558079" cy="5668813"/>
          </a:xfrm>
          <a:custGeom>
            <a:avLst/>
            <a:gdLst/>
            <a:ahLst/>
            <a:cxnLst/>
            <a:rect r="r" b="b" t="t" l="l"/>
            <a:pathLst>
              <a:path h="5668813" w="8558079">
                <a:moveTo>
                  <a:pt x="0" y="0"/>
                </a:moveTo>
                <a:lnTo>
                  <a:pt x="8558079" y="0"/>
                </a:lnTo>
                <a:lnTo>
                  <a:pt x="8558079" y="5668814"/>
                </a:lnTo>
                <a:lnTo>
                  <a:pt x="0" y="5668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95359" y="877361"/>
            <a:ext cx="9097282" cy="140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Contoh Hasil Grad-CAM</a:t>
            </a:r>
          </a:p>
          <a:p>
            <a:pPr algn="ctr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39238" y="4798273"/>
            <a:ext cx="9525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404431" y="8494244"/>
            <a:ext cx="43818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Grad-CAM Full Image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39869" y="8494244"/>
            <a:ext cx="51369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Grad-CAM Lung Focused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16320" y="2586778"/>
            <a:ext cx="8558079" cy="5668813"/>
          </a:xfrm>
          <a:custGeom>
            <a:avLst/>
            <a:gdLst/>
            <a:ahLst/>
            <a:cxnLst/>
            <a:rect r="r" b="b" t="t" l="l"/>
            <a:pathLst>
              <a:path h="5668813" w="8558079">
                <a:moveTo>
                  <a:pt x="0" y="0"/>
                </a:moveTo>
                <a:lnTo>
                  <a:pt x="8558079" y="0"/>
                </a:lnTo>
                <a:lnTo>
                  <a:pt x="8558079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13601" y="2586778"/>
            <a:ext cx="8558079" cy="5668813"/>
          </a:xfrm>
          <a:custGeom>
            <a:avLst/>
            <a:gdLst/>
            <a:ahLst/>
            <a:cxnLst/>
            <a:rect r="r" b="b" t="t" l="l"/>
            <a:pathLst>
              <a:path h="5668813" w="8558079">
                <a:moveTo>
                  <a:pt x="0" y="0"/>
                </a:moveTo>
                <a:lnTo>
                  <a:pt x="8558079" y="0"/>
                </a:lnTo>
                <a:lnTo>
                  <a:pt x="8558079" y="5668813"/>
                </a:lnTo>
                <a:lnTo>
                  <a:pt x="0" y="56688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595359" y="877361"/>
            <a:ext cx="9097282" cy="1404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Contoh Hasil Grad-CAM</a:t>
            </a:r>
          </a:p>
          <a:p>
            <a:pPr algn="ctr" marL="0" indent="0" lvl="0">
              <a:lnSpc>
                <a:spcPts val="5000"/>
              </a:lnSpc>
              <a:spcBef>
                <a:spcPct val="0"/>
              </a:spcBef>
            </a:pPr>
            <a:r>
              <a:rPr lang="en-US" sz="5000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Model 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04431" y="8494244"/>
            <a:ext cx="4381857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Grad-CAM Full Image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24165" y="8493716"/>
            <a:ext cx="513695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Grad-CAM Lung Focused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171107" y="1589089"/>
            <a:ext cx="16088193" cy="82296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4829300" y="601661"/>
            <a:ext cx="8629401" cy="987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375"/>
              </a:lnSpc>
              <a:spcBef>
                <a:spcPct val="0"/>
              </a:spcBef>
            </a:pPr>
            <a:r>
              <a:rPr lang="en-US" sz="7375" spc="-5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Demonstrasi Model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948808"/>
            <a:ext cx="6614484" cy="274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0503" indent="-340251" lvl="1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Dataset terbatas</a:t>
            </a:r>
          </a:p>
          <a:p>
            <a:pPr algn="l" marL="680503" indent="-340251" lvl="1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Belum diuji klinis</a:t>
            </a:r>
          </a:p>
          <a:p>
            <a:pPr algn="l" marL="680503" indent="-340251" lvl="1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Akurasi AI tidak stabil dalam mendeteksi TBC</a:t>
            </a:r>
          </a:p>
          <a:p>
            <a:pPr algn="l" marL="680503" indent="-340251" lvl="1">
              <a:lnSpc>
                <a:spcPts val="4412"/>
              </a:lnSpc>
              <a:buFont typeface="Arial"/>
              <a:buChar char="•"/>
            </a:pPr>
            <a:r>
              <a:rPr lang="en-US" sz="315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Grad-CAM fokus ke tulang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181732" y="601661"/>
            <a:ext cx="11924536" cy="987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375"/>
              </a:lnSpc>
              <a:spcBef>
                <a:spcPct val="0"/>
              </a:spcBef>
            </a:pPr>
            <a:r>
              <a:rPr lang="en-US" sz="7375" spc="-582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Limitasi &amp; Pengembangan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257054"/>
            <a:ext cx="4918435" cy="542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</a:pPr>
            <a:r>
              <a:rPr lang="en-US" sz="3151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Limitasi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7054776"/>
            <a:ext cx="6967812" cy="219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9036" indent="-339518" lvl="1">
              <a:lnSpc>
                <a:spcPts val="4403"/>
              </a:lnSpc>
              <a:buFont typeface="Arial"/>
              <a:buChar char="•"/>
            </a:pPr>
            <a:r>
              <a:rPr lang="en-US" sz="31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Segmentasi paru otomatis</a:t>
            </a:r>
          </a:p>
          <a:p>
            <a:pPr algn="l" marL="679036" indent="-339518" lvl="1">
              <a:lnSpc>
                <a:spcPts val="4403"/>
              </a:lnSpc>
              <a:buFont typeface="Arial"/>
              <a:buChar char="•"/>
            </a:pPr>
            <a:r>
              <a:rPr lang="en-US" sz="31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</a:t>
            </a:r>
            <a:r>
              <a:rPr lang="en-US" sz="31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ernal validation</a:t>
            </a:r>
          </a:p>
          <a:p>
            <a:pPr algn="l" marL="679036" indent="-339518" lvl="1">
              <a:lnSpc>
                <a:spcPts val="4403"/>
              </a:lnSpc>
              <a:buFont typeface="Arial"/>
              <a:buChar char="•"/>
            </a:pPr>
            <a:r>
              <a:rPr lang="en-US" sz="314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Multi-class TB severity</a:t>
            </a:r>
          </a:p>
          <a:p>
            <a:pPr algn="l">
              <a:lnSpc>
                <a:spcPts val="440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364514"/>
            <a:ext cx="6967812" cy="540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3"/>
              </a:lnSpc>
            </a:pPr>
            <a:r>
              <a:rPr lang="en-US" sz="3145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Future Work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95021" y="2667825"/>
            <a:ext cx="9097958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Referensi</a:t>
            </a:r>
          </a:p>
        </p:txBody>
      </p:sp>
      <p:sp>
        <p:nvSpPr>
          <p:cNvPr name="AutoShape 4" id="4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690485" y="3454670"/>
            <a:ext cx="10907029" cy="2789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7285" indent="-248642" lvl="1">
              <a:lnSpc>
                <a:spcPts val="3224"/>
              </a:lnSpc>
              <a:buAutoNum type="arabicPeriod" startAt="1"/>
            </a:pP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WHO Global Tuberculosis Report 2024.</a:t>
            </a:r>
          </a:p>
          <a:p>
            <a:pPr algn="just" marL="497285" indent="-248642" lvl="1">
              <a:lnSpc>
                <a:spcPts val="3224"/>
              </a:lnSpc>
              <a:buAutoNum type="arabicPeriod" startAt="1"/>
            </a:pP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Kemenkes RI – La</a:t>
            </a: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poran Eliminasi TB 2030.</a:t>
            </a:r>
          </a:p>
          <a:p>
            <a:pPr algn="just" marL="497285" indent="-248642" lvl="1">
              <a:lnSpc>
                <a:spcPts val="3224"/>
              </a:lnSpc>
              <a:buAutoNum type="arabicPeriod" startAt="1"/>
            </a:pP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Siahaan et al., Journal of Public Health Research, 2022.</a:t>
            </a:r>
          </a:p>
          <a:p>
            <a:pPr algn="just" marL="497285" indent="-248642" lvl="1">
              <a:lnSpc>
                <a:spcPts val="3224"/>
              </a:lnSpc>
              <a:buAutoNum type="arabicPeriod" startAt="1"/>
            </a:pP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ahman et al., Deep Learning for TB Detection using Chest X-rays, IEEE Access, 2022.</a:t>
            </a:r>
          </a:p>
          <a:p>
            <a:pPr algn="just" marL="497285" indent="-248642" lvl="1">
              <a:lnSpc>
                <a:spcPts val="3224"/>
              </a:lnSpc>
              <a:spcBef>
                <a:spcPct val="0"/>
              </a:spcBef>
              <a:buAutoNum type="arabicPeriod" startAt="1"/>
            </a:pP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PD</a:t>
            </a:r>
            <a:r>
              <a:rPr lang="en-US" sz="230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SR (Perhimpunan Dokter Spesialis Radiologi Indonesia), 2023 Data Statistik.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DAG7kIK76_s</dc:identifier>
  <dcterms:modified xsi:type="dcterms:W3CDTF">2011-08-01T06:04:30Z</dcterms:modified>
  <cp:revision>1</cp:revision>
  <dc:title>AI Powered TBC Detector</dc:title>
</cp:coreProperties>
</file>